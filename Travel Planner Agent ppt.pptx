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90" r:id="rId2"/>
    <p:sldId id="291" r:id="rId3"/>
    <p:sldId id="292" r:id="rId4"/>
    <p:sldId id="293" r:id="rId5"/>
    <p:sldId id="294" r:id="rId6"/>
    <p:sldId id="295" r:id="rId7"/>
    <p:sldId id="296" r:id="rId8"/>
    <p:sldId id="310" r:id="rId9"/>
    <p:sldId id="311" r:id="rId10"/>
    <p:sldId id="312" r:id="rId11"/>
    <p:sldId id="313" r:id="rId12"/>
    <p:sldId id="316" r:id="rId13"/>
    <p:sldId id="298" r:id="rId14"/>
    <p:sldId id="299" r:id="rId15"/>
    <p:sldId id="301" r:id="rId16"/>
    <p:sldId id="302" r:id="rId17"/>
    <p:sldId id="303" r:id="rId18"/>
    <p:sldId id="306" r:id="rId19"/>
    <p:sldId id="304" r:id="rId20"/>
    <p:sldId id="315" r:id="rId21"/>
    <p:sldId id="305" r:id="rId22"/>
    <p:sldId id="307" r:id="rId23"/>
    <p:sldId id="314" r:id="rId24"/>
    <p:sldId id="308" r:id="rId25"/>
    <p:sldId id="309"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varScale="1">
        <p:scale>
          <a:sx n="105" d="100"/>
          <a:sy n="105" d="100"/>
        </p:scale>
        <p:origin x="8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E1C0F14-DBDF-585A-E882-E2BF9647AFAD}"/>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7E6D42C4-06DC-AB21-7112-CEF37FBD57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954B99EC-4B17-0504-2C36-7D6C91B3C0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9041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D158B3-CBD8-B5E4-6B76-365327AB855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10A094C-68D7-7C06-1676-FE4856468B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9E3ED5FD-8C53-1F8E-D724-51F89F8FBB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1075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508F664-A613-C49E-6808-FC67C002D8D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7AA89D1-36B1-C3BD-0BE6-28C6BBF7E4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C720C9B-1798-C39A-D4BB-62F3C60E86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0632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E1412E85-19BE-A4D2-3A42-8118C838244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19DA990-6141-A1FE-8846-7567C53993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78ED0245-E9EA-4854-4BC6-4C85ED3850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894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010730D-B05E-5843-B75E-442772C5CBD3}"/>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3B1B9E69-D5B7-1EDE-695B-8A72F215EE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C97573FA-7DA9-832E-211C-9E472EC402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6474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99EC48D-986D-5759-BB30-643EB8E645D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8B9E3A1-6FB8-9155-61D2-ACE1911D3D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030ED18-5AAE-8953-2668-AE98C5E83A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87273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fontScale="90000"/>
          </a:bodyPr>
          <a:lstStyle/>
          <a:p>
            <a:pPr algn="ctr"/>
            <a:r>
              <a:rPr lang="en-US" sz="6600" b="1" dirty="0"/>
              <a:t>IBM Bob Gujarat State level Hackathon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680433" y="3648075"/>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65952618"/>
              </p:ext>
            </p:extLst>
          </p:nvPr>
        </p:nvGraphicFramePr>
        <p:xfrm>
          <a:off x="1299257" y="2600315"/>
          <a:ext cx="9394989" cy="2344847"/>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800" dirty="0"/>
                        <a:t>Durgesh</a:t>
                      </a:r>
                      <a:r>
                        <a:rPr lang="en-US" dirty="0"/>
                        <a:t> </a:t>
                      </a:r>
                      <a:r>
                        <a:rPr lang="en-US" sz="2800" dirty="0"/>
                        <a:t>Kumar</a:t>
                      </a:r>
                      <a:endParaRPr sz="2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800" dirty="0"/>
                        <a:t>durgeshkumar133637@gmail.com</a:t>
                      </a:r>
                      <a:endParaRPr sz="2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800" dirty="0"/>
                        <a:t>9559133637</a:t>
                      </a:r>
                      <a:endParaRPr sz="2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dirty="0">
                <a:highlight>
                  <a:srgbClr val="FFFF00"/>
                </a:highlight>
              </a:rPr>
              <a:t>Artificial Intelligence (AI) &amp; Generative AI</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dirty="0">
                <a:highlight>
                  <a:srgbClr val="FFFF00"/>
                </a:highlight>
              </a:rPr>
              <a:t>Travel Planner Agent </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pic>
        <p:nvPicPr>
          <p:cNvPr id="5" name="Picture 4">
            <a:extLst>
              <a:ext uri="{FF2B5EF4-FFF2-40B4-BE49-F238E27FC236}">
                <a16:creationId xmlns:a16="http://schemas.microsoft.com/office/drawing/2014/main" id="{64FB2596-5F34-6EA1-F3E9-C3C4BD77FFAA}"/>
              </a:ext>
            </a:extLst>
          </p:cNvPr>
          <p:cNvPicPr>
            <a:picLocks noChangeAspect="1"/>
          </p:cNvPicPr>
          <p:nvPr/>
        </p:nvPicPr>
        <p:blipFill>
          <a:blip r:embed="rId3"/>
          <a:stretch>
            <a:fillRect/>
          </a:stretch>
        </p:blipFill>
        <p:spPr>
          <a:xfrm>
            <a:off x="3828134" y="3576530"/>
            <a:ext cx="1095559" cy="1190913"/>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2246769"/>
          </a:xfrm>
          <a:prstGeom prst="rect">
            <a:avLst/>
          </a:prstGeom>
          <a:noFill/>
        </p:spPr>
        <p:txBody>
          <a:bodyPr wrap="square" rtlCol="0">
            <a:spAutoFit/>
          </a:bodyPr>
          <a:lstStyle/>
          <a:p>
            <a:pPr fontAlgn="base"/>
            <a:r>
              <a:rPr lang="en-US" b="1" dirty="0"/>
              <a:t>Problem Statement No.5- </a:t>
            </a:r>
            <a:r>
              <a:rPr lang="en-US" dirty="0"/>
              <a:t>Travel Planner Agent </a:t>
            </a:r>
            <a:br>
              <a:rPr lang="en-US" dirty="0"/>
            </a:br>
            <a:endParaRPr lang="en-US" b="1" dirty="0"/>
          </a:p>
          <a:p>
            <a:pPr fontAlgn="base"/>
            <a:r>
              <a:rPr lang="en-US" dirty="0"/>
              <a:t>The Challenge - A Travel Planner Agent is an AI-powered assistant that helps users plan trips efficiently and intelligently. It uses real-time data to suggest destinations, build itineraries, and recommend transport and accommodation options. By understanding user preferences, budgets, and constraints, it tailors personalized travel plans. Integrated with maps, weather updates, and local guides, it ensures a smooth travel experience. The agent can also manage bookings, alert users to changes, and optimize schedules on the go. This smart assistant transforms complex travel planning into a seamless, enjoyable process. </a:t>
            </a:r>
            <a:br>
              <a:rPr lang="en-US" dirty="0"/>
            </a:br>
            <a:br>
              <a:rPr lang="en-US" dirty="0"/>
            </a:br>
            <a:r>
              <a:rPr lang="en-US" b="1" dirty="0"/>
              <a:t>Technology </a:t>
            </a:r>
            <a:r>
              <a:rPr lang="en-US" dirty="0"/>
              <a:t>- Use of IBM cloud lite services /IBM Granite is mandatory.</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pPr fontAlgn="base"/>
            <a:endParaRPr lang="en-US" b="1" dirty="0"/>
          </a:p>
          <a:p>
            <a:r>
              <a:rPr lang="en-US" b="1" dirty="0"/>
              <a:t>Proposed Solution : </a:t>
            </a:r>
            <a:br>
              <a:rPr lang="en-US" b="1" dirty="0"/>
            </a:br>
            <a:r>
              <a:rPr lang="en-US" dirty="0"/>
              <a:t>We propose to develop an </a:t>
            </a:r>
            <a:r>
              <a:rPr lang="en-US" b="1" dirty="0"/>
              <a:t>AI-powered Travel Planner Agent</a:t>
            </a:r>
            <a:r>
              <a:rPr lang="en-US" dirty="0"/>
              <a:t> that uses </a:t>
            </a:r>
            <a:r>
              <a:rPr lang="en-US" b="1" dirty="0"/>
              <a:t>IBM Granite</a:t>
            </a:r>
            <a:r>
              <a:rPr lang="en-US" dirty="0"/>
              <a:t> to understand users' travel preferences, budget, destination, duration, and interests, and then automatically generates a personalized travel plan.</a:t>
            </a:r>
          </a:p>
          <a:p>
            <a:r>
              <a:rPr lang="en-US" dirty="0"/>
              <a:t>The system will provide a simple web interface where users can enter their travel requirements. The backend will process this information using </a:t>
            </a:r>
            <a:r>
              <a:rPr lang="en-US" b="1" dirty="0"/>
              <a:t>IBM Granite through IBM watsonx.ai</a:t>
            </a:r>
            <a:r>
              <a:rPr lang="en-US" dirty="0"/>
              <a:t> and generate a day-by-day itinerary along with estimated expenses, transportation options, accommodation suggestions, weather information, and travel tips.</a:t>
            </a:r>
          </a:p>
          <a:p>
            <a:r>
              <a:rPr lang="en-US" dirty="0"/>
              <a:t>The application will also allow users to modify their generated itinerary using simple natural-language requests such as </a:t>
            </a:r>
            <a:r>
              <a:rPr lang="en-US" i="1" dirty="0"/>
              <a:t>“Make my trip cheaper”</a:t>
            </a:r>
            <a:r>
              <a:rPr lang="en-US" dirty="0"/>
              <a:t> or </a:t>
            </a:r>
            <a:r>
              <a:rPr lang="en-US" i="1" dirty="0"/>
              <a:t>“Make Day 3 more relaxed.”</a:t>
            </a:r>
            <a:r>
              <a:rPr lang="en-US" dirty="0"/>
              <a:t> The AI will update the plan according to the user's requirements.</a:t>
            </a:r>
          </a:p>
          <a:p>
            <a:r>
              <a:rPr lang="en-US" dirty="0"/>
              <a:t>The application will be developed using </a:t>
            </a:r>
            <a:r>
              <a:rPr lang="en-US" b="1" dirty="0"/>
              <a:t>React for the frontend and </a:t>
            </a:r>
            <a:r>
              <a:rPr lang="en-US" b="1" dirty="0" err="1"/>
              <a:t>FastAPI</a:t>
            </a:r>
            <a:r>
              <a:rPr lang="en-US" b="1" dirty="0"/>
              <a:t>/Python for the backend</a:t>
            </a:r>
            <a:r>
              <a:rPr lang="en-US" dirty="0"/>
              <a:t>, with </a:t>
            </a:r>
            <a:r>
              <a:rPr lang="en-US" b="1" dirty="0"/>
              <a:t>IBM Cloud</a:t>
            </a:r>
            <a:r>
              <a:rPr lang="en-US" dirty="0"/>
              <a:t> used for cloud deployment. A demo-data/fallback mechanism will be included so the system remains functional even when external APIs are unavailable.</a:t>
            </a:r>
            <a:br>
              <a:rPr lang="en-US" dirty="0"/>
            </a:br>
            <a:endParaRPr lang="en-US" dirty="0"/>
          </a:p>
          <a:p>
            <a:r>
              <a:rPr lang="en-US" b="1" dirty="0"/>
              <a:t>Key benefits of the proposed solution:</a:t>
            </a:r>
            <a:endParaRPr lang="en-US" dirty="0"/>
          </a:p>
          <a:p>
            <a:pPr lvl="0"/>
            <a:r>
              <a:rPr lang="en-US" dirty="0"/>
              <a:t>Personalized travel planning using AI </a:t>
            </a:r>
          </a:p>
          <a:p>
            <a:pPr lvl="0"/>
            <a:r>
              <a:rPr lang="en-US" dirty="0"/>
              <a:t>IBM Granite-based itinerary generation </a:t>
            </a:r>
          </a:p>
          <a:p>
            <a:pPr lvl="0"/>
            <a:r>
              <a:rPr lang="en-US" dirty="0"/>
              <a:t>Budget-aware trip planning </a:t>
            </a:r>
          </a:p>
          <a:p>
            <a:pPr lvl="0"/>
            <a:r>
              <a:rPr lang="en-US" dirty="0"/>
              <a:t>Basic weather and travel information </a:t>
            </a:r>
          </a:p>
          <a:p>
            <a:pPr lvl="0"/>
            <a:r>
              <a:rPr lang="en-US" dirty="0"/>
              <a:t>Easy modification of travel plans </a:t>
            </a:r>
          </a:p>
          <a:p>
            <a:pPr lvl="0"/>
            <a:r>
              <a:rPr lang="en-US" dirty="0"/>
              <a:t>Simple and user-friendly interface </a:t>
            </a:r>
          </a:p>
          <a:p>
            <a:pPr lvl="0"/>
            <a:r>
              <a:rPr lang="en-US" dirty="0"/>
              <a:t>IBM Cloud-based deployment </a:t>
            </a:r>
          </a:p>
          <a:p>
            <a:pPr lvl="0"/>
            <a:r>
              <a:rPr lang="en-US" dirty="0"/>
              <a:t>Reduces the time and effort required for manual trip planning</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678204"/>
          </a:xfrm>
          <a:prstGeom prst="rect">
            <a:avLst/>
          </a:prstGeom>
          <a:noFill/>
        </p:spPr>
        <p:txBody>
          <a:bodyPr wrap="square" rtlCol="0">
            <a:spAutoFit/>
          </a:bodyPr>
          <a:lstStyle/>
          <a:p>
            <a:pPr lvl="0"/>
            <a:r>
              <a:rPr lang="en-US" sz="1800" b="1" dirty="0"/>
              <a:t>Programming Language:</a:t>
            </a:r>
            <a:r>
              <a:rPr lang="en-US" sz="1800" dirty="0"/>
              <a:t> Python, JavaScript </a:t>
            </a:r>
          </a:p>
          <a:p>
            <a:pPr lvl="0"/>
            <a:r>
              <a:rPr lang="en-US" sz="1800" b="1" dirty="0"/>
              <a:t>Frontend:</a:t>
            </a:r>
            <a:r>
              <a:rPr lang="en-US" sz="1800" dirty="0"/>
              <a:t> React.js, Vite, HTML5, CSS3, Tailwind CSS </a:t>
            </a:r>
          </a:p>
          <a:p>
            <a:pPr lvl="0"/>
            <a:r>
              <a:rPr lang="en-US" sz="1800" b="1" dirty="0"/>
              <a:t>Backend:</a:t>
            </a:r>
            <a:r>
              <a:rPr lang="en-US" sz="1800" dirty="0"/>
              <a:t> </a:t>
            </a:r>
            <a:r>
              <a:rPr lang="en-US" sz="1800" dirty="0" err="1"/>
              <a:t>FastAPI</a:t>
            </a:r>
            <a:r>
              <a:rPr lang="en-US" sz="1800" dirty="0"/>
              <a:t> (Python) </a:t>
            </a:r>
          </a:p>
          <a:p>
            <a:pPr lvl="0"/>
            <a:r>
              <a:rPr lang="en-US" sz="1800" b="1" dirty="0"/>
              <a:t>Artificial Intelligence:</a:t>
            </a:r>
            <a:r>
              <a:rPr lang="en-US" sz="1800" dirty="0"/>
              <a:t> </a:t>
            </a:r>
            <a:r>
              <a:rPr lang="en-US" sz="1800" b="1" dirty="0"/>
              <a:t>IBM Granite</a:t>
            </a:r>
            <a:r>
              <a:rPr lang="en-US" sz="1800" dirty="0"/>
              <a:t> via IBM watsonx.ai </a:t>
            </a:r>
          </a:p>
          <a:p>
            <a:pPr lvl="0"/>
            <a:r>
              <a:rPr lang="en-US" sz="1800" b="1" dirty="0"/>
              <a:t>Cloud Platform:</a:t>
            </a:r>
            <a:r>
              <a:rPr lang="en-US" sz="1800" dirty="0"/>
              <a:t> </a:t>
            </a:r>
            <a:r>
              <a:rPr lang="en-US" sz="1800" b="1" dirty="0"/>
              <a:t>IBM Cloud</a:t>
            </a:r>
            <a:r>
              <a:rPr lang="en-US" sz="1800" dirty="0"/>
              <a:t> </a:t>
            </a:r>
          </a:p>
          <a:p>
            <a:pPr lvl="0"/>
            <a:r>
              <a:rPr lang="en-US" sz="1800" b="1" dirty="0"/>
              <a:t>Cloud Deployment:</a:t>
            </a:r>
            <a:r>
              <a:rPr lang="en-US" sz="1800" dirty="0"/>
              <a:t> IBM Cloud Code Engine </a:t>
            </a:r>
          </a:p>
          <a:p>
            <a:pPr lvl="0"/>
            <a:r>
              <a:rPr lang="en-US" sz="1800" b="1" dirty="0"/>
              <a:t>External API:</a:t>
            </a:r>
            <a:r>
              <a:rPr lang="en-US" sz="1800" dirty="0"/>
              <a:t> Weather API for basic weather information </a:t>
            </a:r>
          </a:p>
          <a:p>
            <a:pPr lvl="0"/>
            <a:r>
              <a:rPr lang="en-US" sz="1800" b="1" dirty="0"/>
              <a:t>API Communication:</a:t>
            </a:r>
            <a:r>
              <a:rPr lang="en-US" sz="1800" dirty="0"/>
              <a:t> REST API </a:t>
            </a:r>
          </a:p>
          <a:p>
            <a:pPr lvl="0"/>
            <a:r>
              <a:rPr lang="en-US" sz="1800" b="1" dirty="0"/>
              <a:t>Data Format:</a:t>
            </a:r>
            <a:r>
              <a:rPr lang="en-US" sz="1800" dirty="0"/>
              <a:t> JSON </a:t>
            </a:r>
          </a:p>
          <a:p>
            <a:pPr lvl="0"/>
            <a:r>
              <a:rPr lang="en-US" sz="1800" b="1" dirty="0"/>
              <a:t>Development Tools:</a:t>
            </a:r>
            <a:r>
              <a:rPr lang="en-US" sz="1800" dirty="0"/>
              <a:t> VS Code, Git/GitHub </a:t>
            </a:r>
          </a:p>
          <a:p>
            <a:pPr lvl="0"/>
            <a:r>
              <a:rPr lang="en-US" sz="1800" b="1" dirty="0"/>
              <a:t>Containerization:</a:t>
            </a:r>
            <a:r>
              <a:rPr lang="en-US" sz="1800" dirty="0"/>
              <a:t> Docker </a:t>
            </a:r>
            <a:br>
              <a:rPr lang="en-US" sz="1800" dirty="0"/>
            </a:br>
            <a:endParaRPr lang="en-US" sz="1800" dirty="0"/>
          </a:p>
          <a:p>
            <a:r>
              <a:rPr lang="en-US" sz="1800" b="1" dirty="0"/>
              <a:t>Core Technologies:</a:t>
            </a:r>
            <a:br>
              <a:rPr lang="en-US" sz="1800" dirty="0"/>
            </a:br>
            <a:r>
              <a:rPr lang="en-US" sz="1800" b="1" dirty="0"/>
              <a:t>IBM Granite + IBM watsonx.ai + IBM Cloud + React.js + </a:t>
            </a:r>
            <a:r>
              <a:rPr lang="en-US" sz="1800" b="1" dirty="0" err="1"/>
              <a:t>FastAPI</a:t>
            </a:r>
            <a:r>
              <a:rPr lang="en-US" sz="1800" b="1" dirty="0"/>
              <a:t> + Python</a:t>
            </a: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1332F3F-EEF3-260F-52BA-62370775058E}"/>
              </a:ext>
            </a:extLst>
          </p:cNvPr>
          <p:cNvPicPr>
            <a:picLocks noChangeAspect="1"/>
          </p:cNvPicPr>
          <p:nvPr/>
        </p:nvPicPr>
        <p:blipFill>
          <a:blip r:embed="rId3"/>
          <a:stretch>
            <a:fillRect/>
          </a:stretch>
        </p:blipFill>
        <p:spPr>
          <a:xfrm>
            <a:off x="959016" y="891323"/>
            <a:ext cx="10028385" cy="5336589"/>
          </a:xfrm>
          <a:prstGeom prst="rect">
            <a:avLst/>
          </a:prstGeom>
        </p:spPr>
      </p:pic>
      <p:pic>
        <p:nvPicPr>
          <p:cNvPr id="3" name="Picture 2">
            <a:extLst>
              <a:ext uri="{FF2B5EF4-FFF2-40B4-BE49-F238E27FC236}">
                <a16:creationId xmlns:a16="http://schemas.microsoft.com/office/drawing/2014/main" id="{A84C61E5-4314-A279-3A9F-6E8609303ECA}"/>
              </a:ext>
            </a:extLst>
          </p:cNvPr>
          <p:cNvPicPr>
            <a:picLocks noChangeAspect="1"/>
          </p:cNvPicPr>
          <p:nvPr/>
        </p:nvPicPr>
        <p:blipFill>
          <a:blip r:embed="rId4"/>
          <a:stretch>
            <a:fillRect/>
          </a:stretch>
        </p:blipFill>
        <p:spPr>
          <a:xfrm>
            <a:off x="819944" y="760705"/>
            <a:ext cx="10167457" cy="5522669"/>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26AE77B4-704A-3A83-DF19-A19BAD53F97B}"/>
              </a:ext>
            </a:extLst>
          </p:cNvPr>
          <p:cNvPicPr>
            <a:picLocks noChangeAspect="1"/>
          </p:cNvPicPr>
          <p:nvPr/>
        </p:nvPicPr>
        <p:blipFill>
          <a:blip r:embed="rId3"/>
          <a:stretch>
            <a:fillRect/>
          </a:stretch>
        </p:blipFill>
        <p:spPr>
          <a:xfrm>
            <a:off x="1070124" y="862241"/>
            <a:ext cx="10051752" cy="5319357"/>
          </a:xfrm>
          <a:prstGeom prst="rect">
            <a:avLst/>
          </a:prstGeom>
        </p:spPr>
      </p:pic>
      <p:pic>
        <p:nvPicPr>
          <p:cNvPr id="5" name="Picture 4">
            <a:extLst>
              <a:ext uri="{FF2B5EF4-FFF2-40B4-BE49-F238E27FC236}">
                <a16:creationId xmlns:a16="http://schemas.microsoft.com/office/drawing/2014/main" id="{B68591BE-C262-10E4-1C9A-357C20C6B196}"/>
              </a:ext>
            </a:extLst>
          </p:cNvPr>
          <p:cNvPicPr>
            <a:picLocks noChangeAspect="1"/>
          </p:cNvPicPr>
          <p:nvPr/>
        </p:nvPicPr>
        <p:blipFill>
          <a:blip r:embed="rId4"/>
          <a:stretch>
            <a:fillRect/>
          </a:stretch>
        </p:blipFill>
        <p:spPr>
          <a:xfrm>
            <a:off x="1070124" y="862241"/>
            <a:ext cx="10051752" cy="5431822"/>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AF7A05F8-6C8B-A51B-B050-0E9212E8B1F3}"/>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AAB01743-CD2D-F92D-BF92-DF9E50E45548}"/>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832F80F5-6696-BE83-020A-A8B1A21844A9}"/>
              </a:ext>
            </a:extLst>
          </p:cNvPr>
          <p:cNvPicPr>
            <a:picLocks noChangeAspect="1"/>
          </p:cNvPicPr>
          <p:nvPr/>
        </p:nvPicPr>
        <p:blipFill>
          <a:blip r:embed="rId3"/>
          <a:stretch>
            <a:fillRect/>
          </a:stretch>
        </p:blipFill>
        <p:spPr>
          <a:xfrm>
            <a:off x="1070124" y="862241"/>
            <a:ext cx="10051752" cy="5319357"/>
          </a:xfrm>
          <a:prstGeom prst="rect">
            <a:avLst/>
          </a:prstGeom>
        </p:spPr>
      </p:pic>
      <p:pic>
        <p:nvPicPr>
          <p:cNvPr id="5" name="Picture 4">
            <a:extLst>
              <a:ext uri="{FF2B5EF4-FFF2-40B4-BE49-F238E27FC236}">
                <a16:creationId xmlns:a16="http://schemas.microsoft.com/office/drawing/2014/main" id="{C0708B60-CBD5-E9FC-C0FF-54B348BD0961}"/>
              </a:ext>
            </a:extLst>
          </p:cNvPr>
          <p:cNvPicPr>
            <a:picLocks noChangeAspect="1"/>
          </p:cNvPicPr>
          <p:nvPr/>
        </p:nvPicPr>
        <p:blipFill>
          <a:blip r:embed="rId4"/>
          <a:stretch>
            <a:fillRect/>
          </a:stretch>
        </p:blipFill>
        <p:spPr>
          <a:xfrm>
            <a:off x="1070123" y="862241"/>
            <a:ext cx="10051751" cy="5419753"/>
          </a:xfrm>
          <a:prstGeom prst="rect">
            <a:avLst/>
          </a:prstGeom>
        </p:spPr>
      </p:pic>
    </p:spTree>
    <p:extLst>
      <p:ext uri="{BB962C8B-B14F-4D97-AF65-F5344CB8AC3E}">
        <p14:creationId xmlns:p14="http://schemas.microsoft.com/office/powerpoint/2010/main" val="1399488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EC248B62-90B0-31EF-B033-CE55CB376930}"/>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99445627-361C-FF92-A0E9-D6EFBDBAF34E}"/>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26341ECE-AE38-0FEF-23DD-967B8CBA6E76}"/>
              </a:ext>
            </a:extLst>
          </p:cNvPr>
          <p:cNvPicPr>
            <a:picLocks noChangeAspect="1"/>
          </p:cNvPicPr>
          <p:nvPr/>
        </p:nvPicPr>
        <p:blipFill>
          <a:blip r:embed="rId3"/>
          <a:stretch>
            <a:fillRect/>
          </a:stretch>
        </p:blipFill>
        <p:spPr>
          <a:xfrm>
            <a:off x="1070124" y="862241"/>
            <a:ext cx="10051752" cy="5319357"/>
          </a:xfrm>
          <a:prstGeom prst="rect">
            <a:avLst/>
          </a:prstGeom>
        </p:spPr>
      </p:pic>
      <p:pic>
        <p:nvPicPr>
          <p:cNvPr id="5" name="Picture 4">
            <a:extLst>
              <a:ext uri="{FF2B5EF4-FFF2-40B4-BE49-F238E27FC236}">
                <a16:creationId xmlns:a16="http://schemas.microsoft.com/office/drawing/2014/main" id="{523B58DD-B933-F576-DD25-1F30C80D2600}"/>
              </a:ext>
            </a:extLst>
          </p:cNvPr>
          <p:cNvPicPr>
            <a:picLocks noChangeAspect="1"/>
          </p:cNvPicPr>
          <p:nvPr/>
        </p:nvPicPr>
        <p:blipFill>
          <a:blip r:embed="rId4"/>
          <a:stretch>
            <a:fillRect/>
          </a:stretch>
        </p:blipFill>
        <p:spPr>
          <a:xfrm>
            <a:off x="1070123" y="862241"/>
            <a:ext cx="10051751" cy="5416108"/>
          </a:xfrm>
          <a:prstGeom prst="rect">
            <a:avLst/>
          </a:prstGeom>
        </p:spPr>
      </p:pic>
    </p:spTree>
    <p:extLst>
      <p:ext uri="{BB962C8B-B14F-4D97-AF65-F5344CB8AC3E}">
        <p14:creationId xmlns:p14="http://schemas.microsoft.com/office/powerpoint/2010/main" val="3929110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39EB1CD-538A-7DBD-F4E9-052D9D7D4303}"/>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E349D72E-AB17-BA23-03A8-4F38FE7B6316}"/>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3962DD69-7E73-92A5-30FE-52E51551A450}"/>
              </a:ext>
            </a:extLst>
          </p:cNvPr>
          <p:cNvPicPr>
            <a:picLocks noChangeAspect="1"/>
          </p:cNvPicPr>
          <p:nvPr/>
        </p:nvPicPr>
        <p:blipFill>
          <a:blip r:embed="rId3"/>
          <a:stretch>
            <a:fillRect/>
          </a:stretch>
        </p:blipFill>
        <p:spPr>
          <a:xfrm>
            <a:off x="1070124" y="862241"/>
            <a:ext cx="10051752" cy="5319357"/>
          </a:xfrm>
          <a:prstGeom prst="rect">
            <a:avLst/>
          </a:prstGeom>
        </p:spPr>
      </p:pic>
      <p:pic>
        <p:nvPicPr>
          <p:cNvPr id="5" name="Picture 4">
            <a:extLst>
              <a:ext uri="{FF2B5EF4-FFF2-40B4-BE49-F238E27FC236}">
                <a16:creationId xmlns:a16="http://schemas.microsoft.com/office/drawing/2014/main" id="{D6983ECF-03A5-9FD2-A893-0C54B589C7C9}"/>
              </a:ext>
            </a:extLst>
          </p:cNvPr>
          <p:cNvPicPr>
            <a:picLocks noChangeAspect="1"/>
          </p:cNvPicPr>
          <p:nvPr/>
        </p:nvPicPr>
        <p:blipFill>
          <a:blip r:embed="rId4"/>
          <a:stretch>
            <a:fillRect/>
          </a:stretch>
        </p:blipFill>
        <p:spPr>
          <a:xfrm>
            <a:off x="1070124" y="862241"/>
            <a:ext cx="10066909" cy="5319356"/>
          </a:xfrm>
          <a:prstGeom prst="rect">
            <a:avLst/>
          </a:prstGeom>
        </p:spPr>
      </p:pic>
    </p:spTree>
    <p:extLst>
      <p:ext uri="{BB962C8B-B14F-4D97-AF65-F5344CB8AC3E}">
        <p14:creationId xmlns:p14="http://schemas.microsoft.com/office/powerpoint/2010/main" val="535470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3221D92-1044-08AB-7B31-E72C3F63DB10}"/>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28B03A33-D1CB-E189-2BFF-63C16430879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lang="en-US" sz="2400" b="1">
              <a:sym typeface="Times New Roman"/>
            </a:endParaRPr>
          </a:p>
        </p:txBody>
      </p:sp>
      <p:pic>
        <p:nvPicPr>
          <p:cNvPr id="4" name="Picture 3">
            <a:extLst>
              <a:ext uri="{FF2B5EF4-FFF2-40B4-BE49-F238E27FC236}">
                <a16:creationId xmlns:a16="http://schemas.microsoft.com/office/drawing/2014/main" id="{4A6911EF-4063-1B4B-C9F6-63F0A3B798FD}"/>
              </a:ext>
            </a:extLst>
          </p:cNvPr>
          <p:cNvPicPr>
            <a:picLocks noChangeAspect="1"/>
          </p:cNvPicPr>
          <p:nvPr/>
        </p:nvPicPr>
        <p:blipFill>
          <a:blip r:embed="rId3"/>
          <a:stretch>
            <a:fillRect/>
          </a:stretch>
        </p:blipFill>
        <p:spPr>
          <a:xfrm>
            <a:off x="1070124" y="862241"/>
            <a:ext cx="10051752" cy="5319357"/>
          </a:xfrm>
          <a:prstGeom prst="rect">
            <a:avLst/>
          </a:prstGeom>
        </p:spPr>
      </p:pic>
      <p:pic>
        <p:nvPicPr>
          <p:cNvPr id="5" name="Picture 4">
            <a:extLst>
              <a:ext uri="{FF2B5EF4-FFF2-40B4-BE49-F238E27FC236}">
                <a16:creationId xmlns:a16="http://schemas.microsoft.com/office/drawing/2014/main" id="{DBC86D73-6875-BA0D-0228-EFE261E211E6}"/>
              </a:ext>
            </a:extLst>
          </p:cNvPr>
          <p:cNvPicPr>
            <a:picLocks noChangeAspect="1"/>
          </p:cNvPicPr>
          <p:nvPr/>
        </p:nvPicPr>
        <p:blipFill>
          <a:blip r:embed="rId4"/>
          <a:stretch>
            <a:fillRect/>
          </a:stretch>
        </p:blipFill>
        <p:spPr>
          <a:xfrm>
            <a:off x="1070123" y="862240"/>
            <a:ext cx="10051751" cy="5368965"/>
          </a:xfrm>
          <a:prstGeom prst="rect">
            <a:avLst/>
          </a:prstGeom>
        </p:spPr>
      </p:pic>
    </p:spTree>
    <p:extLst>
      <p:ext uri="{BB962C8B-B14F-4D97-AF65-F5344CB8AC3E}">
        <p14:creationId xmlns:p14="http://schemas.microsoft.com/office/powerpoint/2010/main" val="2428633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7F7BFD7F-A5BE-424E-04E4-955393FB45D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84A94F7B-91E0-E5F0-4040-54299340996D}"/>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lang="en-US" sz="2400" b="1">
              <a:sym typeface="Times New Roman"/>
            </a:endParaRPr>
          </a:p>
        </p:txBody>
      </p:sp>
      <p:pic>
        <p:nvPicPr>
          <p:cNvPr id="4" name="Picture 3">
            <a:extLst>
              <a:ext uri="{FF2B5EF4-FFF2-40B4-BE49-F238E27FC236}">
                <a16:creationId xmlns:a16="http://schemas.microsoft.com/office/drawing/2014/main" id="{798DA23A-5703-24DC-3E32-A03BD6CD70B3}"/>
              </a:ext>
            </a:extLst>
          </p:cNvPr>
          <p:cNvPicPr>
            <a:picLocks noChangeAspect="1"/>
          </p:cNvPicPr>
          <p:nvPr/>
        </p:nvPicPr>
        <p:blipFill>
          <a:blip r:embed="rId3"/>
          <a:stretch>
            <a:fillRect/>
          </a:stretch>
        </p:blipFill>
        <p:spPr>
          <a:xfrm>
            <a:off x="1070124" y="862241"/>
            <a:ext cx="10051752" cy="5319357"/>
          </a:xfrm>
          <a:prstGeom prst="rect">
            <a:avLst/>
          </a:prstGeom>
        </p:spPr>
      </p:pic>
      <p:pic>
        <p:nvPicPr>
          <p:cNvPr id="5" name="Picture 4">
            <a:extLst>
              <a:ext uri="{FF2B5EF4-FFF2-40B4-BE49-F238E27FC236}">
                <a16:creationId xmlns:a16="http://schemas.microsoft.com/office/drawing/2014/main" id="{7C2EC906-7B01-D0A7-7A55-0B71BBBFE965}"/>
              </a:ext>
            </a:extLst>
          </p:cNvPr>
          <p:cNvPicPr>
            <a:picLocks noChangeAspect="1"/>
          </p:cNvPicPr>
          <p:nvPr/>
        </p:nvPicPr>
        <p:blipFill>
          <a:blip r:embed="rId4"/>
          <a:stretch>
            <a:fillRect/>
          </a:stretch>
        </p:blipFill>
        <p:spPr>
          <a:xfrm>
            <a:off x="1070124" y="862240"/>
            <a:ext cx="9958874" cy="5319357"/>
          </a:xfrm>
          <a:prstGeom prst="rect">
            <a:avLst/>
          </a:prstGeom>
        </p:spPr>
      </p:pic>
    </p:spTree>
    <p:extLst>
      <p:ext uri="{BB962C8B-B14F-4D97-AF65-F5344CB8AC3E}">
        <p14:creationId xmlns:p14="http://schemas.microsoft.com/office/powerpoint/2010/main" val="4045007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4" name="Picture 3">
            <a:extLst>
              <a:ext uri="{FF2B5EF4-FFF2-40B4-BE49-F238E27FC236}">
                <a16:creationId xmlns:a16="http://schemas.microsoft.com/office/drawing/2014/main" id="{D9AF7C34-56B3-031A-B64D-EE7185EBDFE8}"/>
              </a:ext>
            </a:extLst>
          </p:cNvPr>
          <p:cNvPicPr>
            <a:picLocks noChangeAspect="1"/>
          </p:cNvPicPr>
          <p:nvPr/>
        </p:nvPicPr>
        <p:blipFill>
          <a:blip r:embed="rId3"/>
          <a:stretch>
            <a:fillRect/>
          </a:stretch>
        </p:blipFill>
        <p:spPr>
          <a:xfrm>
            <a:off x="375114" y="799432"/>
            <a:ext cx="9359729" cy="5610060"/>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pPr lvl="0"/>
            <a:r>
              <a:rPr lang="en-US" b="1" dirty="0"/>
              <a:t>Understands User Requirements</a:t>
            </a:r>
            <a:br>
              <a:rPr lang="en-US" dirty="0"/>
            </a:br>
            <a:r>
              <a:rPr lang="en-US" dirty="0"/>
              <a:t>Analyzes destination, budget, duration, number of </a:t>
            </a:r>
            <a:r>
              <a:rPr lang="en-US" dirty="0" err="1"/>
              <a:t>travellers</a:t>
            </a:r>
            <a:r>
              <a:rPr lang="en-US" dirty="0"/>
              <a:t>, interests, and preferences. </a:t>
            </a:r>
          </a:p>
          <a:p>
            <a:pPr lvl="0"/>
            <a:r>
              <a:rPr lang="en-US" b="1" dirty="0"/>
              <a:t>Makes Planning Decisions</a:t>
            </a:r>
            <a:br>
              <a:rPr lang="en-US" dirty="0"/>
            </a:br>
            <a:r>
              <a:rPr lang="en-US" dirty="0"/>
              <a:t>Determines suitable activities, transportation, accommodation options, and daily schedules based on the user's requirements. </a:t>
            </a:r>
          </a:p>
          <a:p>
            <a:pPr lvl="0"/>
            <a:r>
              <a:rPr lang="en-US" b="1" dirty="0"/>
              <a:t>Uses External Tools</a:t>
            </a:r>
            <a:br>
              <a:rPr lang="en-US" dirty="0"/>
            </a:br>
            <a:r>
              <a:rPr lang="en-US" dirty="0"/>
              <a:t>The agent can access services such as weather information and travel/place data to improve the generated plan. </a:t>
            </a:r>
          </a:p>
          <a:p>
            <a:pPr lvl="0"/>
            <a:r>
              <a:rPr lang="en-US" b="1" dirty="0"/>
              <a:t>Generates Personalized Itinerary</a:t>
            </a:r>
            <a:br>
              <a:rPr lang="en-US" dirty="0"/>
            </a:br>
            <a:r>
              <a:rPr lang="en-US" dirty="0"/>
              <a:t>IBM Granite generates a day-by-day travel plan based on the collected information. </a:t>
            </a:r>
          </a:p>
          <a:p>
            <a:pPr lvl="0"/>
            <a:r>
              <a:rPr lang="en-US" b="1" dirty="0"/>
              <a:t>Optimizes the Plan</a:t>
            </a:r>
            <a:br>
              <a:rPr lang="en-US" dirty="0"/>
            </a:br>
            <a:r>
              <a:rPr lang="en-US" dirty="0"/>
              <a:t>The agent considers the user's budget and preferences and can suggest alternatives when the estimated cost is too high. </a:t>
            </a:r>
          </a:p>
          <a:p>
            <a:pPr lvl="0"/>
            <a:r>
              <a:rPr lang="en-US" b="1" dirty="0"/>
              <a:t>Responds to User Changes</a:t>
            </a:r>
            <a:br>
              <a:rPr lang="en-US" dirty="0"/>
            </a:br>
            <a:r>
              <a:rPr lang="en-US" dirty="0"/>
              <a:t>Users can request changes such as </a:t>
            </a:r>
            <a:r>
              <a:rPr lang="en-US" i="1" dirty="0"/>
              <a:t>“Make my trip cheaper”</a:t>
            </a:r>
            <a:r>
              <a:rPr lang="en-US" dirty="0"/>
              <a:t> or </a:t>
            </a:r>
            <a:r>
              <a:rPr lang="en-US" i="1" dirty="0"/>
              <a:t>“Make Day 3 more relaxed.”</a:t>
            </a:r>
            <a:r>
              <a:rPr lang="en-US" dirty="0"/>
              <a:t> The agent uses the existing trip context to generate an updated plan. </a:t>
            </a:r>
          </a:p>
          <a:p>
            <a:pPr lvl="0"/>
            <a:r>
              <a:rPr lang="en-US" b="1" dirty="0"/>
              <a:t>Provides Explainable Recommendations</a:t>
            </a:r>
            <a:br>
              <a:rPr lang="en-US" dirty="0"/>
            </a:br>
            <a:r>
              <a:rPr lang="en-US" dirty="0"/>
              <a:t>The agent explains why particular destinations, activities, or transportation options are recommended.</a:t>
            </a:r>
          </a:p>
        </p:txBody>
      </p:sp>
    </p:spTree>
    <p:extLst>
      <p:ext uri="{BB962C8B-B14F-4D97-AF65-F5344CB8AC3E}">
        <p14:creationId xmlns:p14="http://schemas.microsoft.com/office/powerpoint/2010/main" val="4000696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7" name="Picture 6">
            <a:extLst>
              <a:ext uri="{FF2B5EF4-FFF2-40B4-BE49-F238E27FC236}">
                <a16:creationId xmlns:a16="http://schemas.microsoft.com/office/drawing/2014/main" id="{E40B4FE3-1513-1566-0391-4EFAFB020428}"/>
              </a:ext>
            </a:extLst>
          </p:cNvPr>
          <p:cNvPicPr>
            <a:picLocks noChangeAspect="1"/>
          </p:cNvPicPr>
          <p:nvPr/>
        </p:nvPicPr>
        <p:blipFill>
          <a:blip r:embed="rId3"/>
          <a:stretch>
            <a:fillRect/>
          </a:stretch>
        </p:blipFill>
        <p:spPr>
          <a:xfrm>
            <a:off x="514063" y="738201"/>
            <a:ext cx="11163874" cy="6006839"/>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pic>
        <p:nvPicPr>
          <p:cNvPr id="7" name="Picture 6">
            <a:extLst>
              <a:ext uri="{FF2B5EF4-FFF2-40B4-BE49-F238E27FC236}">
                <a16:creationId xmlns:a16="http://schemas.microsoft.com/office/drawing/2014/main" id="{1124F6D7-FABB-F418-F30E-70A9128E2A26}"/>
              </a:ext>
            </a:extLst>
          </p:cNvPr>
          <p:cNvPicPr>
            <a:picLocks noChangeAspect="1"/>
          </p:cNvPicPr>
          <p:nvPr/>
        </p:nvPicPr>
        <p:blipFill>
          <a:blip r:embed="rId4"/>
          <a:stretch>
            <a:fillRect/>
          </a:stretch>
        </p:blipFill>
        <p:spPr>
          <a:xfrm>
            <a:off x="409144" y="765136"/>
            <a:ext cx="10649243" cy="5744036"/>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pic>
        <p:nvPicPr>
          <p:cNvPr id="5" name="Picture 4">
            <a:extLst>
              <a:ext uri="{FF2B5EF4-FFF2-40B4-BE49-F238E27FC236}">
                <a16:creationId xmlns:a16="http://schemas.microsoft.com/office/drawing/2014/main" id="{872CBC09-6943-8F0E-86E9-C3C6EC1C3996}"/>
              </a:ext>
            </a:extLst>
          </p:cNvPr>
          <p:cNvPicPr>
            <a:picLocks noChangeAspect="1"/>
          </p:cNvPicPr>
          <p:nvPr/>
        </p:nvPicPr>
        <p:blipFill>
          <a:blip r:embed="rId4"/>
          <a:stretch>
            <a:fillRect/>
          </a:stretch>
        </p:blipFill>
        <p:spPr>
          <a:xfrm>
            <a:off x="804493" y="816977"/>
            <a:ext cx="10438652" cy="564973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461640" y="517698"/>
            <a:ext cx="6444496" cy="704017"/>
          </a:xfrm>
          <a:prstGeom prst="rect">
            <a:avLst/>
          </a:prstGeom>
          <a:noFill/>
          <a:ln>
            <a:noFill/>
          </a:ln>
        </p:spPr>
        <p:txBody>
          <a:bodyPr spcFirstLastPara="1" wrap="square" lIns="0" tIns="0" rIns="0" bIns="0" anchor="t" anchorCtr="0">
            <a:noAutofit/>
          </a:bodyPr>
          <a:lstStyle/>
          <a:p>
            <a:pPr lvl="0">
              <a:buClr>
                <a:srgbClr val="051D3A"/>
              </a:buClr>
              <a:buSzPts val="3500"/>
            </a:pPr>
            <a:r>
              <a:rPr lang="en-US" sz="2400" b="1" dirty="0"/>
              <a:t>The Wow Factor Behind Your Project</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44781"/>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C4023DE2-3CF3-9EEC-2856-540F603FE9ED}"/>
              </a:ext>
            </a:extLst>
          </p:cNvPr>
          <p:cNvSpPr txBox="1"/>
          <p:nvPr/>
        </p:nvSpPr>
        <p:spPr>
          <a:xfrm>
            <a:off x="461640" y="1332602"/>
            <a:ext cx="8225637" cy="4278094"/>
          </a:xfrm>
          <a:prstGeom prst="rect">
            <a:avLst/>
          </a:prstGeom>
          <a:noFill/>
        </p:spPr>
        <p:txBody>
          <a:bodyPr wrap="square">
            <a:spAutoFit/>
          </a:bodyPr>
          <a:lstStyle/>
          <a:p>
            <a:pPr marL="342900" lvl="0" indent="-342900">
              <a:buFont typeface="Arial" panose="020B0604020202020204" pitchFamily="34" charset="0"/>
              <a:buChar char="•"/>
            </a:pPr>
            <a:r>
              <a:rPr lang="en-US" sz="1600" b="1" dirty="0"/>
              <a:t>AI-Powered Travel Planning:</a:t>
            </a:r>
            <a:r>
              <a:rPr lang="en-US" sz="1600" dirty="0"/>
              <a:t> IBM Granite understands the user's requirements and generates a personalized itinerary. </a:t>
            </a:r>
          </a:p>
          <a:p>
            <a:pPr marL="342900" lvl="0" indent="-342900">
              <a:buFont typeface="Arial" panose="020B0604020202020204" pitchFamily="34" charset="0"/>
              <a:buChar char="•"/>
            </a:pPr>
            <a:r>
              <a:rPr lang="en-US" sz="1600" b="1" dirty="0"/>
              <a:t>Personalized Recommendations:</a:t>
            </a:r>
            <a:r>
              <a:rPr lang="en-US" sz="1600" dirty="0"/>
              <a:t> The system considers budget, duration, interests, number of </a:t>
            </a:r>
            <a:r>
              <a:rPr lang="en-US" sz="1600" dirty="0" err="1"/>
              <a:t>travellers</a:t>
            </a:r>
            <a:r>
              <a:rPr lang="en-US" sz="1600" dirty="0"/>
              <a:t>, and travel style. </a:t>
            </a:r>
          </a:p>
          <a:p>
            <a:pPr marL="342900" lvl="0" indent="-342900">
              <a:buFont typeface="Arial" panose="020B0604020202020204" pitchFamily="34" charset="0"/>
              <a:buChar char="•"/>
            </a:pPr>
            <a:r>
              <a:rPr lang="en-US" sz="1600" b="1" dirty="0"/>
              <a:t>Budget-Aware Planning:</a:t>
            </a:r>
            <a:r>
              <a:rPr lang="en-US" sz="1600" dirty="0"/>
              <a:t> The application estimates trip expenses and checks whether the plan fits within the user's budget. </a:t>
            </a:r>
          </a:p>
          <a:p>
            <a:pPr marL="342900" lvl="0" indent="-342900">
              <a:buFont typeface="Arial" panose="020B0604020202020204" pitchFamily="34" charset="0"/>
              <a:buChar char="•"/>
            </a:pPr>
            <a:r>
              <a:rPr lang="en-US" sz="1600" b="1" dirty="0"/>
              <a:t>Context-Aware Planning:</a:t>
            </a:r>
            <a:r>
              <a:rPr lang="en-US" sz="1600" dirty="0"/>
              <a:t> Weather and travel information can be considered when creating suitable activities. </a:t>
            </a:r>
          </a:p>
          <a:p>
            <a:pPr marL="342900" lvl="0" indent="-342900">
              <a:buFont typeface="Arial" panose="020B0604020202020204" pitchFamily="34" charset="0"/>
              <a:buChar char="•"/>
            </a:pPr>
            <a:r>
              <a:rPr lang="en-US" sz="1600" b="1" dirty="0"/>
              <a:t>AI-Based Replanning:</a:t>
            </a:r>
            <a:r>
              <a:rPr lang="en-US" sz="1600" dirty="0"/>
              <a:t> Users can request changes such as "Make my trip cheaper" or "Make Day 3 more relaxed," and the AI can modify the itinerary. </a:t>
            </a:r>
          </a:p>
          <a:p>
            <a:pPr marL="342900" lvl="0" indent="-342900">
              <a:buFont typeface="Arial" panose="020B0604020202020204" pitchFamily="34" charset="0"/>
              <a:buChar char="•"/>
            </a:pPr>
            <a:r>
              <a:rPr lang="en-US" sz="1600" b="1" dirty="0"/>
              <a:t>Agentic Decision Making:</a:t>
            </a:r>
            <a:r>
              <a:rPr lang="en-US" sz="1600" dirty="0"/>
              <a:t> The system goes beyond simple question answering by understanding the travel goal, using available tools and data, and creating a complete travel plan. </a:t>
            </a:r>
          </a:p>
          <a:p>
            <a:pPr marL="342900" lvl="0" indent="-342900">
              <a:buFont typeface="Arial" panose="020B0604020202020204" pitchFamily="34" charset="0"/>
              <a:buChar char="•"/>
            </a:pPr>
            <a:r>
              <a:rPr lang="en-US" sz="1600" b="1" dirty="0"/>
              <a:t>IBM Cloud Integration:</a:t>
            </a:r>
            <a:r>
              <a:rPr lang="en-US" sz="1600" dirty="0"/>
              <a:t> The project demonstrates practical implementation of IBM Granite and IBM Cloud. </a:t>
            </a:r>
          </a:p>
          <a:p>
            <a:pPr marL="342900" lvl="0" indent="-342900">
              <a:buFont typeface="Arial" panose="020B0604020202020204" pitchFamily="34" charset="0"/>
              <a:buChar char="•"/>
            </a:pPr>
            <a:r>
              <a:rPr lang="en-US" sz="1600" b="1" dirty="0"/>
              <a:t>Simple User Experience:</a:t>
            </a:r>
            <a:r>
              <a:rPr lang="en-US" sz="1600" dirty="0"/>
              <a:t> Users can get their major travel-planning information in one place instead of manually searching multiple sources.</a:t>
            </a:r>
          </a:p>
        </p:txBody>
      </p:sp>
    </p:spTree>
    <p:extLst>
      <p:ext uri="{BB962C8B-B14F-4D97-AF65-F5344CB8AC3E}">
        <p14:creationId xmlns:p14="http://schemas.microsoft.com/office/powerpoint/2010/main" val="740028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511277" y="470564"/>
            <a:ext cx="7389139"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511277" y="1207008"/>
            <a:ext cx="10264576" cy="4801314"/>
          </a:xfrm>
          <a:prstGeom prst="rect">
            <a:avLst/>
          </a:prstGeom>
          <a:noFill/>
        </p:spPr>
        <p:txBody>
          <a:bodyPr wrap="square" rtlCol="0">
            <a:spAutoFit/>
          </a:bodyPr>
          <a:lstStyle/>
          <a:p>
            <a:pPr lvl="0"/>
            <a:r>
              <a:rPr lang="en-US" sz="1800" b="1" dirty="0"/>
              <a:t>AI-Based Personalized Planning:</a:t>
            </a:r>
            <a:r>
              <a:rPr lang="en-US" sz="1800" dirty="0"/>
              <a:t> The system creates travel plans according to individual preferences, budget, duration, interests, and </a:t>
            </a:r>
            <a:r>
              <a:rPr lang="en-US" sz="1800" dirty="0" err="1"/>
              <a:t>traveller</a:t>
            </a:r>
            <a:r>
              <a:rPr lang="en-US" sz="1800" dirty="0"/>
              <a:t> type. </a:t>
            </a:r>
          </a:p>
          <a:p>
            <a:pPr lvl="0"/>
            <a:r>
              <a:rPr lang="en-US" sz="1800" b="1" dirty="0"/>
              <a:t>Natural-Language Trip Planning:</a:t>
            </a:r>
            <a:r>
              <a:rPr lang="en-US" sz="1800" dirty="0"/>
              <a:t> Users can describe their requirements in normal language instead of filling out complex travel-planning forms. </a:t>
            </a:r>
          </a:p>
          <a:p>
            <a:pPr lvl="0"/>
            <a:r>
              <a:rPr lang="en-US" sz="1800" b="1" dirty="0"/>
              <a:t>Agentic AI Approach:</a:t>
            </a:r>
            <a:r>
              <a:rPr lang="en-US" sz="1800" dirty="0"/>
              <a:t> The system does not only answer travel questions. It analyzes the user's goal, processes relevant information, and generates a complete travel plan. </a:t>
            </a:r>
          </a:p>
          <a:p>
            <a:pPr lvl="0"/>
            <a:r>
              <a:rPr lang="en-US" sz="1800" b="1" dirty="0"/>
              <a:t>Budget-Conscious Itinerary:</a:t>
            </a:r>
            <a:r>
              <a:rPr lang="en-US" sz="1800" dirty="0"/>
              <a:t> The system considers the user's available budget while generating the itinerary and provides alternatives when the estimated cost is high. </a:t>
            </a:r>
          </a:p>
          <a:p>
            <a:pPr lvl="0"/>
            <a:r>
              <a:rPr lang="en-US" sz="1800" b="1" dirty="0"/>
              <a:t>Dynamic Itinerary Modification:</a:t>
            </a:r>
            <a:r>
              <a:rPr lang="en-US" sz="1800" dirty="0"/>
              <a:t> Users can modify their plans through simple instructions such as "reduce my budget" or "make the trip more relaxed," and IBM Granite generates an updated plan. </a:t>
            </a:r>
          </a:p>
          <a:p>
            <a:pPr lvl="0"/>
            <a:r>
              <a:rPr lang="en-US" sz="1800" b="1" dirty="0"/>
              <a:t>Combination of AI and External Data:</a:t>
            </a:r>
            <a:r>
              <a:rPr lang="en-US" sz="1800" dirty="0"/>
              <a:t> The project combines IBM Granite with weather and travel information to make recommendations more useful and context-aware. </a:t>
            </a:r>
          </a:p>
          <a:p>
            <a:pPr lvl="0"/>
            <a:r>
              <a:rPr lang="en-US" sz="1800" b="1" dirty="0"/>
              <a:t>Explainable Recommendations:</a:t>
            </a:r>
            <a:r>
              <a:rPr lang="en-US" sz="1800" dirty="0"/>
              <a:t> The system provides reasons for recommending particular activities, transportation options, or accommodation categories. </a:t>
            </a:r>
          </a:p>
          <a:p>
            <a:pPr lvl="0"/>
            <a:r>
              <a:rPr lang="en-US" sz="1800" b="1" dirty="0"/>
              <a:t>IBM Granite and IBM Cloud Integration:</a:t>
            </a:r>
            <a:r>
              <a:rPr lang="en-US" sz="1800" dirty="0"/>
              <a:t> Unlike a generic AI travel chatbot, the project demonstrates the practical use of </a:t>
            </a:r>
            <a:r>
              <a:rPr lang="en-US" sz="1800" b="1" dirty="0"/>
              <a:t>IBM Granite as the intelligence layer and IBM Cloud as the deployment platform</a:t>
            </a:r>
            <a:r>
              <a:rPr lang="en-US" sz="1800" dirty="0"/>
              <a:t>.</a:t>
            </a:r>
          </a:p>
        </p:txBody>
      </p:sp>
    </p:spTree>
    <p:extLst>
      <p:ext uri="{BB962C8B-B14F-4D97-AF65-F5344CB8AC3E}">
        <p14:creationId xmlns:p14="http://schemas.microsoft.com/office/powerpoint/2010/main" val="2325282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4D64937E-C9AD-3FA1-53E2-2ECBF2E4909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F71D9F5B-66BF-4840-40E0-2713F56C5E64}"/>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1231BA06-8686-7E6D-BCEC-6F33D9928770}"/>
              </a:ext>
            </a:extLst>
          </p:cNvPr>
          <p:cNvSpPr/>
          <p:nvPr/>
        </p:nvSpPr>
        <p:spPr>
          <a:xfrm>
            <a:off x="1218724" y="1221715"/>
            <a:ext cx="8516119" cy="4277001"/>
          </a:xfrm>
          <a:prstGeom prst="rect">
            <a:avLst/>
          </a:prstGeom>
          <a:noFill/>
          <a:ln>
            <a:noFill/>
          </a:ln>
        </p:spPr>
        <p:txBody>
          <a:bodyPr spcFirstLastPara="1" wrap="square" lIns="0" tIns="0" rIns="0" bIns="0" anchor="t" anchorCtr="0">
            <a:noAutofit/>
          </a:bodyPr>
          <a:lstStyle/>
          <a:p>
            <a:pPr lvl="0"/>
            <a:r>
              <a:rPr lang="en-US" sz="2000" b="1" dirty="0">
                <a:latin typeface="Times New Roman" panose="02020603050405020304" pitchFamily="18" charset="0"/>
                <a:cs typeface="Times New Roman" panose="02020603050405020304" pitchFamily="18" charset="0"/>
              </a:rPr>
              <a:t>Real-Time Booking and Notifications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system can be extended to integrate real-time flight, hotel, and transportation booking APIs, along with notifications for delays, cancellations, and schedule changes. </a:t>
            </a:r>
          </a:p>
          <a:p>
            <a:pPr lvl="0"/>
            <a:r>
              <a:rPr lang="en-US" sz="2000" b="1" dirty="0">
                <a:latin typeface="Times New Roman" panose="02020603050405020304" pitchFamily="18" charset="0"/>
                <a:cs typeface="Times New Roman" panose="02020603050405020304" pitchFamily="18" charset="0"/>
              </a:rPr>
              <a:t>Advanced Personalization and Mobile Application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Future versions can learn from users' previous trips and preferences to provide smarter recommendations and can be extended into a mobile application with GPS-based suggestions and location-aware travel assistance. </a:t>
            </a:r>
          </a:p>
        </p:txBody>
      </p:sp>
      <p:sp>
        <p:nvSpPr>
          <p:cNvPr id="280" name="Google Shape;280;p18">
            <a:extLst>
              <a:ext uri="{FF2B5EF4-FFF2-40B4-BE49-F238E27FC236}">
                <a16:creationId xmlns:a16="http://schemas.microsoft.com/office/drawing/2014/main" id="{62824FC8-468E-9721-80FC-A47F7498A5E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7824849-EE7D-AFB8-0509-308E6B45F8A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3101CCF1-C200-0AAD-AC73-FC772B0983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73899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https://github.com/Durgeshkumar3637/AI-powered-Travel-Planner-Agent</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Skills build profile screen shot</a:t>
            </a:r>
          </a:p>
          <a:p>
            <a:pPr algn="ctr"/>
            <a:endParaRPr lang="en-US" dirty="0"/>
          </a:p>
        </p:txBody>
      </p:sp>
      <p:pic>
        <p:nvPicPr>
          <p:cNvPr id="3" name="Picture 2">
            <a:extLst>
              <a:ext uri="{FF2B5EF4-FFF2-40B4-BE49-F238E27FC236}">
                <a16:creationId xmlns:a16="http://schemas.microsoft.com/office/drawing/2014/main" id="{39CE8C2F-1E3F-9F59-8E25-1A5A95FEF46B}"/>
              </a:ext>
            </a:extLst>
          </p:cNvPr>
          <p:cNvPicPr>
            <a:picLocks noChangeAspect="1"/>
          </p:cNvPicPr>
          <p:nvPr/>
        </p:nvPicPr>
        <p:blipFill>
          <a:blip r:embed="rId2"/>
          <a:stretch>
            <a:fillRect/>
          </a:stretch>
        </p:blipFill>
        <p:spPr>
          <a:xfrm>
            <a:off x="327949" y="725072"/>
            <a:ext cx="10637807" cy="557667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AB062-BFE8-81E7-7937-7FF058CAE37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6244D29-5E1E-8A40-F4D0-25314C4B736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72F5D597-02A1-615E-08C1-B7E75280E4A4}"/>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Getting Started with Artificial Intelligence</a:t>
            </a:r>
          </a:p>
        </p:txBody>
      </p:sp>
      <p:grpSp>
        <p:nvGrpSpPr>
          <p:cNvPr id="8" name="Group 7">
            <a:extLst>
              <a:ext uri="{FF2B5EF4-FFF2-40B4-BE49-F238E27FC236}">
                <a16:creationId xmlns:a16="http://schemas.microsoft.com/office/drawing/2014/main" id="{01739FC9-EA36-C69A-D156-78F571F1045D}"/>
              </a:ext>
            </a:extLst>
          </p:cNvPr>
          <p:cNvGrpSpPr/>
          <p:nvPr/>
        </p:nvGrpSpPr>
        <p:grpSpPr>
          <a:xfrm>
            <a:off x="2407123" y="1423459"/>
            <a:ext cx="6389964" cy="4744480"/>
            <a:chOff x="2023664" y="1423459"/>
            <a:chExt cx="6389964" cy="4744480"/>
          </a:xfrm>
        </p:grpSpPr>
        <p:pic>
          <p:nvPicPr>
            <p:cNvPr id="5" name="Picture 4">
              <a:extLst>
                <a:ext uri="{FF2B5EF4-FFF2-40B4-BE49-F238E27FC236}">
                  <a16:creationId xmlns:a16="http://schemas.microsoft.com/office/drawing/2014/main" id="{471EC1B6-534B-7F60-2625-D71008765053}"/>
                </a:ext>
              </a:extLst>
            </p:cNvPr>
            <p:cNvPicPr>
              <a:picLocks noChangeAspect="1"/>
            </p:cNvPicPr>
            <p:nvPr/>
          </p:nvPicPr>
          <p:blipFill>
            <a:blip r:embed="rId2"/>
            <a:stretch>
              <a:fillRect/>
            </a:stretch>
          </p:blipFill>
          <p:spPr>
            <a:xfrm>
              <a:off x="2023664" y="1423459"/>
              <a:ext cx="6389964" cy="4744480"/>
            </a:xfrm>
            <a:prstGeom prst="rect">
              <a:avLst/>
            </a:prstGeom>
          </p:spPr>
        </p:pic>
        <p:sp>
          <p:nvSpPr>
            <p:cNvPr id="7" name="Rectangle 6">
              <a:extLst>
                <a:ext uri="{FF2B5EF4-FFF2-40B4-BE49-F238E27FC236}">
                  <a16:creationId xmlns:a16="http://schemas.microsoft.com/office/drawing/2014/main" id="{47CDC70C-8438-B2F3-5994-9575DBF3F258}"/>
                </a:ext>
              </a:extLst>
            </p:cNvPr>
            <p:cNvSpPr/>
            <p:nvPr/>
          </p:nvSpPr>
          <p:spPr>
            <a:xfrm>
              <a:off x="2458065" y="2979175"/>
              <a:ext cx="4414683" cy="4498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27FE54C3-9EC6-5D97-74D2-CE78DD8A35B0}"/>
              </a:ext>
            </a:extLst>
          </p:cNvPr>
          <p:cNvPicPr>
            <a:picLocks noChangeAspect="1"/>
          </p:cNvPicPr>
          <p:nvPr/>
        </p:nvPicPr>
        <p:blipFill>
          <a:blip r:embed="rId3"/>
          <a:stretch>
            <a:fillRect/>
          </a:stretch>
        </p:blipFill>
        <p:spPr>
          <a:xfrm>
            <a:off x="2407123" y="1350496"/>
            <a:ext cx="6389964" cy="4937699"/>
          </a:xfrm>
          <a:prstGeom prst="rect">
            <a:avLst/>
          </a:prstGeom>
        </p:spPr>
      </p:pic>
    </p:spTree>
    <p:extLst>
      <p:ext uri="{BB962C8B-B14F-4D97-AF65-F5344CB8AC3E}">
        <p14:creationId xmlns:p14="http://schemas.microsoft.com/office/powerpoint/2010/main" val="2018804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Add your IBM BOB Certificate</a:t>
            </a:r>
          </a:p>
        </p:txBody>
      </p:sp>
      <p:pic>
        <p:nvPicPr>
          <p:cNvPr id="3" name="Picture 2">
            <a:extLst>
              <a:ext uri="{FF2B5EF4-FFF2-40B4-BE49-F238E27FC236}">
                <a16:creationId xmlns:a16="http://schemas.microsoft.com/office/drawing/2014/main" id="{14B2E49E-5B84-6BC3-0FD9-69D9333388D7}"/>
              </a:ext>
            </a:extLst>
          </p:cNvPr>
          <p:cNvPicPr>
            <a:picLocks noChangeAspect="1"/>
          </p:cNvPicPr>
          <p:nvPr/>
        </p:nvPicPr>
        <p:blipFill>
          <a:blip r:embed="rId3"/>
          <a:stretch>
            <a:fillRect/>
          </a:stretch>
        </p:blipFill>
        <p:spPr>
          <a:xfrm>
            <a:off x="2004809" y="1712637"/>
            <a:ext cx="7685480" cy="4772552"/>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TotalTime>
  <Words>1381</Words>
  <Application>Microsoft Office PowerPoint</Application>
  <PresentationFormat>Widescreen</PresentationFormat>
  <Paragraphs>118</Paragraphs>
  <Slides>25</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Times New Roman</vt:lpstr>
      <vt:lpstr>Office Theme</vt:lpstr>
      <vt:lpstr>IBM Bob Gujarat State level Hackathon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DURGESH KUMAR</cp:lastModifiedBy>
  <cp:revision>5</cp:revision>
  <dcterms:created xsi:type="dcterms:W3CDTF">2025-07-08T05:06:56Z</dcterms:created>
  <dcterms:modified xsi:type="dcterms:W3CDTF">2026-09-11T07:12:28Z</dcterms:modified>
</cp:coreProperties>
</file>